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57" r:id="rId5"/>
    <p:sldId id="258" r:id="rId6"/>
    <p:sldId id="259" r:id="rId7"/>
    <p:sldId id="261" r:id="rId8"/>
    <p:sldId id="262" r:id="rId9"/>
    <p:sldId id="260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9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28.xml"/><Relationship Id="rId18" Type="http://schemas.openxmlformats.org/officeDocument/2006/relationships/tags" Target="../tags/tag127.xml"/><Relationship Id="rId17" Type="http://schemas.openxmlformats.org/officeDocument/2006/relationships/tags" Target="../tags/tag126.xml"/><Relationship Id="rId16" Type="http://schemas.openxmlformats.org/officeDocument/2006/relationships/tags" Target="../tags/tag125.xml"/><Relationship Id="rId15" Type="http://schemas.openxmlformats.org/officeDocument/2006/relationships/tags" Target="../tags/tag124.xml"/><Relationship Id="rId14" Type="http://schemas.openxmlformats.org/officeDocument/2006/relationships/tags" Target="../tags/tag123.xml"/><Relationship Id="rId13" Type="http://schemas.openxmlformats.org/officeDocument/2006/relationships/tags" Target="../tags/tag122.xml"/><Relationship Id="rId12" Type="http://schemas.openxmlformats.org/officeDocument/2006/relationships/tags" Target="../tags/tag12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90204" pitchFamily="34" charset="0"/>
              <a:ea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90204" pitchFamily="34" charset="0"/>
              <a:ea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  <a:ea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90204" pitchFamily="34" charset="0"/>
          <a:ea typeface="Arial" panose="020B0604020202090204" pitchFamily="34" charset="0"/>
          <a:cs typeface="Arial" panose="020B0604020202090204" pitchFamily="34" charset="0"/>
          <a:sym typeface="Arial" panose="020B060402020209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Arial" panose="020B0604020202090204" pitchFamily="34" charset="0"/>
          <a:ea typeface="Arial" panose="020B0604020202090204" pitchFamily="34" charset="0"/>
          <a:cs typeface="Arial" panose="020B0604020202090204" pitchFamily="34" charset="0"/>
          <a:sym typeface="Arial" panose="020B060402020209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9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" Type="http://schemas.openxmlformats.org/officeDocument/2006/relationships/tags" Target="../tags/tag142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" Type="http://schemas.openxmlformats.org/officeDocument/2006/relationships/tags" Target="../tags/tag145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" Type="http://schemas.openxmlformats.org/officeDocument/2006/relationships/tags" Target="../tags/tag14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3.xml"/><Relationship Id="rId2" Type="http://schemas.openxmlformats.org/officeDocument/2006/relationships/tags" Target="../tags/tag152.xml"/><Relationship Id="rId1" Type="http://schemas.openxmlformats.org/officeDocument/2006/relationships/tags" Target="../tags/tag151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>
            <a:normAutofit/>
          </a:bodyPr>
          <a:lstStyle/>
          <a:p>
            <a:r>
              <a:rPr lang="en-US" altLang="en-US" dirty="0">
                <a:ea typeface="+mj-ea"/>
                <a:sym typeface="+mn-ea"/>
              </a:rPr>
              <a:t>Track 5: Data Intelligence &amp; AI</a:t>
            </a:r>
            <a:endParaRPr lang="en-US" dirty="0">
              <a:ea typeface="+mj-ea"/>
            </a:endParaRPr>
          </a:p>
        </p:txBody>
      </p:sp>
      <p:sp>
        <p:nvSpPr>
          <p:cNvPr id="9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>
            <a:normAutofit/>
          </a:bodyPr>
          <a:lstStyle/>
          <a:p>
            <a:r>
              <a:rPr lang="en-US" dirty="0">
                <a:ea typeface="+mn-ea"/>
              </a:rPr>
              <a:t>By: Dr Atul Kumar Ramotra</a:t>
            </a:r>
            <a:endParaRPr lang="en-US" dirty="0"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wrap="square" lIns="90000" tIns="46800" rIns="90000" bIns="46800" rtlCol="0">
            <a:normAutofit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Seaborn is a high-level data visualization library built on top of Matplotlib. It is specifically designed for statistical visualization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* It makes complex plots simple to create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* It produces professional-quality charts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* It works seamlessly with Pandas DataFrames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/>
          <p:nvPr>
            <p:custDataLst>
              <p:tags r:id="rId2"/>
            </p:custDataLst>
          </p:nvPr>
        </p:nvGraphicFramePr>
        <p:xfrm>
          <a:off x="909320" y="4011295"/>
          <a:ext cx="7391400" cy="2082800"/>
        </p:xfrm>
        <a:graphic>
          <a:graphicData uri="http://schemas.openxmlformats.org/drawingml/2006/table">
            <a:tbl>
              <a:tblPr/>
              <a:tblGrid>
                <a:gridCol w="2311400"/>
                <a:gridCol w="2004060"/>
                <a:gridCol w="3075940"/>
              </a:tblGrid>
              <a:tr h="0">
                <a:tc>
                  <a:txBody>
                    <a:bodyPr/>
                    <a:p>
                      <a:pPr algn="ctr"/>
                      <a:r>
                        <a:rPr lang="en-US" sz="1400" b="1">
                          <a:ea typeface="+mn-ea"/>
                        </a:rPr>
                        <a:t>Features</a:t>
                      </a:r>
                      <a:endParaRPr lang="en-US" sz="14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ea typeface="+mn-ea"/>
                        </a:rPr>
                        <a:t>Without Seaborn</a:t>
                      </a:r>
                      <a:endParaRPr sz="14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 b="1">
                          <a:ea typeface="+mn-ea"/>
                        </a:rPr>
                        <a:t>With Seaborn</a:t>
                      </a:r>
                      <a:endParaRPr sz="14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400">
                          <a:ea typeface="+mn-ea"/>
                        </a:rPr>
                        <a:t>Styling</a:t>
                      </a:r>
                      <a:endParaRPr sz="14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>
                          <a:ea typeface="+mn-ea"/>
                        </a:rPr>
                        <a:t>Manual</a:t>
                      </a:r>
                      <a:endParaRPr sz="14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>
                          <a:ea typeface="+mn-ea"/>
                        </a:rPr>
                        <a:t>Automatic</a:t>
                      </a:r>
                      <a:endParaRPr sz="14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400">
                          <a:ea typeface="+mn-ea"/>
                        </a:rPr>
                        <a:t>Statistical plots</a:t>
                      </a:r>
                      <a:endParaRPr sz="14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>
                          <a:ea typeface="+mn-ea"/>
                        </a:rPr>
                        <a:t>Complex code</a:t>
                      </a:r>
                      <a:endParaRPr sz="14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>
                          <a:ea typeface="+mn-ea"/>
                        </a:rPr>
                        <a:t>One-line functions</a:t>
                      </a:r>
                      <a:endParaRPr sz="14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400">
                          <a:ea typeface="+mn-ea"/>
                        </a:rPr>
                        <a:t>Data handling</a:t>
                      </a:r>
                      <a:endParaRPr sz="14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>
                          <a:ea typeface="+mn-ea"/>
                        </a:rPr>
                        <a:t>Needs preprocessing</a:t>
                      </a:r>
                      <a:endParaRPr sz="14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>
                          <a:ea typeface="+mn-ea"/>
                        </a:rPr>
                        <a:t>Works directly with DataFrames</a:t>
                      </a:r>
                      <a:endParaRPr sz="14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sz="1400">
                          <a:ea typeface="+mn-ea"/>
                        </a:rPr>
                        <a:t>Visualization quality</a:t>
                      </a:r>
                      <a:endParaRPr sz="14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400">
                          <a:ea typeface="+mn-ea"/>
                        </a:rPr>
                        <a:t>Basic</a:t>
                      </a:r>
                      <a:endParaRPr sz="14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400">
                          <a:ea typeface="+mn-ea"/>
                        </a:rPr>
                        <a:t>High</a:t>
                      </a:r>
                      <a:r>
                        <a:rPr sz="1400">
                          <a:ea typeface="+mn-ea"/>
                        </a:rPr>
                        <a:t>-level</a:t>
                      </a:r>
                      <a:endParaRPr sz="14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Title 7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8400" y="608400"/>
            <a:ext cx="13092271" cy="70560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Seaborn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853440" y="1920240"/>
          <a:ext cx="10485120" cy="3463925"/>
        </p:xfrm>
        <a:graphic>
          <a:graphicData uri="http://schemas.openxmlformats.org/drawingml/2006/table">
            <a:tbl>
              <a:tblPr/>
              <a:tblGrid>
                <a:gridCol w="2589530"/>
                <a:gridCol w="3801745"/>
                <a:gridCol w="4093845"/>
              </a:tblGrid>
              <a:tr h="4711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1">
                          <a:ea typeface="+mn-ea"/>
                          <a:cs typeface="tim" charset="0"/>
                        </a:rPr>
                        <a:t>Feature</a:t>
                      </a:r>
                      <a:endParaRPr sz="1600" b="1">
                        <a:ea typeface="+mn-ea"/>
                        <a:cs typeface="tim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1">
                          <a:ea typeface="+mn-ea"/>
                          <a:cs typeface="tim" charset="0"/>
                        </a:rPr>
                        <a:t>Matplotlib</a:t>
                      </a:r>
                      <a:endParaRPr sz="1600" b="1">
                        <a:ea typeface="+mn-ea"/>
                        <a:cs typeface="tim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1">
                          <a:ea typeface="+mn-ea"/>
                          <a:cs typeface="tim" charset="0"/>
                        </a:rPr>
                        <a:t>Seaborn</a:t>
                      </a:r>
                      <a:endParaRPr sz="1600" b="1">
                        <a:ea typeface="+mn-ea"/>
                        <a:cs typeface="tim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753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0">
                          <a:ea typeface="+mn-ea"/>
                          <a:cs typeface="tim" charset="0"/>
                        </a:rPr>
                        <a:t>Design Philosophy</a:t>
                      </a:r>
                      <a:endParaRPr sz="1600" b="0">
                        <a:ea typeface="+mn-ea"/>
                        <a:cs typeface="tim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0">
                          <a:ea typeface="+mn-ea"/>
                          <a:cs typeface="tim" charset="0"/>
                        </a:rPr>
                        <a:t>Low-level; maximum flexibility and control</a:t>
                      </a:r>
                      <a:endParaRPr sz="1600" b="0">
                        <a:ea typeface="+mn-ea"/>
                        <a:cs typeface="tim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0">
                          <a:ea typeface="+mn-ea"/>
                          <a:cs typeface="tim" charset="0"/>
                        </a:rPr>
                        <a:t>High-level; rapid statistical visualization</a:t>
                      </a:r>
                      <a:endParaRPr sz="1600" b="0">
                        <a:ea typeface="+mn-ea"/>
                        <a:cs typeface="tim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880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0">
                          <a:ea typeface="+mn-ea"/>
                          <a:cs typeface="tim" charset="0"/>
                        </a:rPr>
                        <a:t>Code Complexity</a:t>
                      </a:r>
                      <a:endParaRPr sz="1600" b="0">
                        <a:ea typeface="+mn-ea"/>
                        <a:cs typeface="tim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0">
                          <a:ea typeface="+mn-ea"/>
                          <a:cs typeface="tim" charset="0"/>
                        </a:rPr>
                        <a:t>Requires multiple lines for basic styling</a:t>
                      </a:r>
                      <a:endParaRPr sz="1600" b="0">
                        <a:ea typeface="+mn-ea"/>
                        <a:cs typeface="tim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0">
                          <a:ea typeface="+mn-ea"/>
                          <a:cs typeface="tim" charset="0"/>
                        </a:rPr>
                        <a:t>Accomplishes complex layouts in a single line</a:t>
                      </a:r>
                      <a:endParaRPr sz="1600" b="0">
                        <a:ea typeface="+mn-ea"/>
                        <a:cs typeface="tim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944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0">
                          <a:ea typeface="+mn-ea"/>
                          <a:cs typeface="tim" charset="0"/>
                        </a:rPr>
                        <a:t>Pandas Integration</a:t>
                      </a:r>
                      <a:endParaRPr sz="1600" b="0">
                        <a:ea typeface="+mn-ea"/>
                        <a:cs typeface="tim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0">
                          <a:ea typeface="+mn-ea"/>
                          <a:cs typeface="tim" charset="0"/>
                        </a:rPr>
                        <a:t>Requires manual parsing of DataFrames</a:t>
                      </a:r>
                      <a:endParaRPr sz="1600" b="0">
                        <a:ea typeface="+mn-ea"/>
                        <a:cs typeface="tim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0">
                          <a:ea typeface="+mn-ea"/>
                          <a:cs typeface="tim" charset="0"/>
                        </a:rPr>
                        <a:t>Built to accept Pandas DataFrames directly</a:t>
                      </a:r>
                      <a:endParaRPr sz="1600" b="0">
                        <a:ea typeface="+mn-ea"/>
                        <a:cs typeface="tim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8170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0">
                          <a:ea typeface="+mn-ea"/>
                          <a:cs typeface="tim" charset="0"/>
                        </a:rPr>
                        <a:t>Default Aesthetics</a:t>
                      </a:r>
                      <a:endParaRPr sz="1600" b="0">
                        <a:ea typeface="+mn-ea"/>
                        <a:cs typeface="tim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0">
                          <a:ea typeface="+mn-ea"/>
                          <a:cs typeface="tim" charset="0"/>
                        </a:rPr>
                        <a:t>Functional, basic, and often looks outdated</a:t>
                      </a:r>
                      <a:endParaRPr sz="1600" b="0">
                        <a:ea typeface="+mn-ea"/>
                        <a:cs typeface="tim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0">
                          <a:ea typeface="+mn-ea"/>
                          <a:cs typeface="tim" charset="0"/>
                        </a:rPr>
                        <a:t>Modern, polished, and publication-ready</a:t>
                      </a:r>
                      <a:endParaRPr sz="1600" b="0">
                        <a:ea typeface="+mn-ea"/>
                        <a:cs typeface="tim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8805"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0">
                          <a:ea typeface="+mn-ea"/>
                          <a:cs typeface="tim" charset="0"/>
                        </a:rPr>
                        <a:t>Statistical Tools</a:t>
                      </a:r>
                      <a:endParaRPr sz="1600" b="0">
                        <a:ea typeface="+mn-ea"/>
                        <a:cs typeface="tim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A0A0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0">
                          <a:ea typeface="+mn-ea"/>
                          <a:cs typeface="tim" charset="0"/>
                        </a:rPr>
                        <a:t>None; you must calculate data manually</a:t>
                      </a:r>
                      <a:endParaRPr sz="1600" b="0">
                        <a:ea typeface="+mn-ea"/>
                        <a:cs typeface="tim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A0A0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600" b="0">
                          <a:ea typeface="+mn-ea"/>
                          <a:cs typeface="tim" charset="0"/>
                        </a:rPr>
                        <a:t>Built-in aggregation, regression, and fitting</a:t>
                      </a:r>
                      <a:endParaRPr sz="1600" b="0">
                        <a:ea typeface="+mn-ea"/>
                        <a:cs typeface="tim" charset="0"/>
                      </a:endParaRPr>
                    </a:p>
                  </a:txBody>
                  <a:tcPr marL="0" marR="0" marT="0" marB="0" anchor="ctr" anchorCtr="0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chemeClr val="accent1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A0A0A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Matplotlib vs Seaborn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854075" y="1254125"/>
          <a:ext cx="10427970" cy="5281930"/>
        </p:xfrm>
        <a:graphic>
          <a:graphicData uri="http://schemas.openxmlformats.org/drawingml/2006/table">
            <a:tbl>
              <a:tblPr/>
              <a:tblGrid>
                <a:gridCol w="1734820"/>
                <a:gridCol w="1734185"/>
                <a:gridCol w="2515235"/>
                <a:gridCol w="2500630"/>
              </a:tblGrid>
              <a:tr h="505460">
                <a:tc>
                  <a:txBody>
                    <a:bodyPr/>
                    <a:p>
                      <a:pPr algn="ctr"/>
                      <a:r>
                        <a:rPr sz="1300" b="1">
                          <a:ea typeface="+mn-ea"/>
                        </a:rPr>
                        <a:t>Plot Name</a:t>
                      </a:r>
                      <a:endParaRPr sz="13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 b="1">
                          <a:ea typeface="+mn-ea"/>
                        </a:rPr>
                        <a:t>Function</a:t>
                      </a:r>
                      <a:endParaRPr sz="13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 b="1">
                          <a:ea typeface="+mn-ea"/>
                        </a:rPr>
                        <a:t>When to Use</a:t>
                      </a:r>
                      <a:endParaRPr sz="13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 b="1">
                          <a:ea typeface="+mn-ea"/>
                        </a:rPr>
                        <a:t>What It Shows</a:t>
                      </a:r>
                      <a:endParaRPr sz="13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4825">
                <a:tc>
                  <a:txBody>
                    <a:bodyPr/>
                    <a:p>
                      <a:pPr algn="ctr"/>
                      <a:r>
                        <a:rPr sz="1300" b="1">
                          <a:ea typeface="+mn-ea"/>
                        </a:rPr>
                        <a:t>Histogram</a:t>
                      </a:r>
                      <a:endParaRPr sz="13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histplot()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To see frequency of values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Data spread across bins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6095">
                <a:tc>
                  <a:txBody>
                    <a:bodyPr/>
                    <a:p>
                      <a:pPr algn="ctr"/>
                      <a:r>
                        <a:rPr sz="1300" b="1">
                          <a:ea typeface="+mn-ea"/>
                        </a:rPr>
                        <a:t>KDE Plot</a:t>
                      </a:r>
                      <a:endParaRPr sz="13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kdeplot()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To see smooth distribution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Density curve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4825">
                <a:tc>
                  <a:txBody>
                    <a:bodyPr/>
                    <a:p>
                      <a:pPr algn="ctr"/>
                      <a:r>
                        <a:rPr sz="1300" b="1">
                          <a:ea typeface="+mn-ea"/>
                        </a:rPr>
                        <a:t>Box Plot</a:t>
                      </a:r>
                      <a:endParaRPr sz="13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boxplot()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To detect outliers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Median, quartiles, outliers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5460">
                <a:tc>
                  <a:txBody>
                    <a:bodyPr/>
                    <a:p>
                      <a:pPr algn="ctr"/>
                      <a:r>
                        <a:rPr sz="1300" b="1">
                          <a:ea typeface="+mn-ea"/>
                        </a:rPr>
                        <a:t>Violin Plot</a:t>
                      </a:r>
                      <a:endParaRPr sz="13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violinplot()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To see distribution shape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Density + spread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5460">
                <a:tc>
                  <a:txBody>
                    <a:bodyPr/>
                    <a:p>
                      <a:pPr algn="ctr"/>
                      <a:r>
                        <a:rPr sz="1300" b="1">
                          <a:ea typeface="+mn-ea"/>
                        </a:rPr>
                        <a:t>Bar Plot</a:t>
                      </a:r>
                      <a:endParaRPr sz="13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barplot()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Compare averages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Mean values per category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5460">
                <a:tc>
                  <a:txBody>
                    <a:bodyPr/>
                    <a:p>
                      <a:pPr algn="ctr"/>
                      <a:r>
                        <a:rPr sz="1300" b="1">
                          <a:ea typeface="+mn-ea"/>
                        </a:rPr>
                        <a:t>Count Plot</a:t>
                      </a:r>
                      <a:endParaRPr sz="13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countplot()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Count occurrences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Frequency of categories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34060">
                <a:tc>
                  <a:txBody>
                    <a:bodyPr/>
                    <a:p>
                      <a:pPr algn="ctr"/>
                      <a:r>
                        <a:rPr sz="1300" b="1">
                          <a:ea typeface="+mn-ea"/>
                        </a:rPr>
                        <a:t>Scatter Plot</a:t>
                      </a:r>
                      <a:endParaRPr sz="13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scatterplot()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Relationship between variables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Correlation/pattern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4825">
                <a:tc>
                  <a:txBody>
                    <a:bodyPr/>
                    <a:p>
                      <a:pPr algn="ctr"/>
                      <a:r>
                        <a:rPr sz="1300" b="1">
                          <a:ea typeface="+mn-ea"/>
                        </a:rPr>
                        <a:t>Line Plot</a:t>
                      </a:r>
                      <a:endParaRPr sz="13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lineplot()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Trends over time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Continuous trends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5460">
                <a:tc>
                  <a:txBody>
                    <a:bodyPr/>
                    <a:p>
                      <a:pPr algn="ctr"/>
                      <a:r>
                        <a:rPr sz="1300" b="1">
                          <a:ea typeface="+mn-ea"/>
                        </a:rPr>
                        <a:t>Heatmap</a:t>
                      </a:r>
                      <a:endParaRPr sz="13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heatmap()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Correlation analysis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300">
                          <a:ea typeface="+mn-ea"/>
                        </a:rPr>
                        <a:t>Color-coded matrix</a:t>
                      </a:r>
                      <a:endParaRPr sz="13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54145" y="385515"/>
            <a:ext cx="10969200" cy="705600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Common Seaborn Plot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Title 8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Seaborn Syntax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8330" y="1464309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fontScale="90000"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altLang="en-US" sz="2000">
                <a:solidFill>
                  <a:schemeClr val="tx1"/>
                </a:solidFill>
              </a:rPr>
              <a:t>sns.plot_type(data=df, x="column_x", y="column_y", hue="column_color")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 algn="just">
              <a:buNone/>
            </a:pPr>
            <a:endParaRPr lang="en-US" altLang="en-US" sz="2000">
              <a:solidFill>
                <a:schemeClr val="tx1"/>
              </a:solidFill>
            </a:endParaRPr>
          </a:p>
          <a:p>
            <a:pPr algn="just"/>
            <a:r>
              <a:rPr lang="en-US" altLang="en-US" sz="2000">
                <a:solidFill>
                  <a:schemeClr val="tx1"/>
                </a:solidFill>
              </a:rPr>
              <a:t>Every basic Seaborn command relies on these four core structural arguments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altLang="en-US" sz="2000" b="1">
                <a:solidFill>
                  <a:schemeClr val="tx1"/>
                </a:solidFill>
                <a:cs typeface="Arial Bold" panose="020B0604020202090204" charset="0"/>
              </a:rPr>
              <a:t>:plot_type: </a:t>
            </a:r>
            <a:r>
              <a:rPr lang="en-US" altLang="en-US" sz="2000">
                <a:solidFill>
                  <a:schemeClr val="tx1"/>
                </a:solidFill>
              </a:rPr>
              <a:t>The name of the chart you want to build (e.g., scatterplot, barplot, lineplot, boxplot).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altLang="en-US" sz="2000" b="1">
                <a:solidFill>
                  <a:schemeClr val="tx1"/>
                </a:solidFill>
                <a:cs typeface="Arial Bold" panose="020B0604020202090204" charset="0"/>
              </a:rPr>
              <a:t>data=:</a:t>
            </a:r>
            <a:r>
              <a:rPr lang="en-US" altLang="en-US" sz="2000">
                <a:solidFill>
                  <a:schemeClr val="tx1"/>
                </a:solidFill>
              </a:rPr>
              <a:t> The name of your Pandas DataFrame variable (e.g., df).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altLang="en-US" sz="2000" b="1">
                <a:solidFill>
                  <a:schemeClr val="tx1"/>
                </a:solidFill>
                <a:cs typeface="Arial Bold" panose="020B0604020202090204" charset="0"/>
              </a:rPr>
              <a:t>x=:</a:t>
            </a:r>
            <a:r>
              <a:rPr lang="en-US" altLang="en-US" sz="2000">
                <a:solidFill>
                  <a:schemeClr val="tx1"/>
                </a:solidFill>
              </a:rPr>
              <a:t> The name of the column you want on the horizontal axis, written as a "string".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altLang="en-US" sz="2000" b="1">
                <a:solidFill>
                  <a:schemeClr val="tx1"/>
                </a:solidFill>
                <a:cs typeface="Arial Bold" panose="020B0604020202090204" charset="0"/>
              </a:rPr>
              <a:t>y=:</a:t>
            </a:r>
            <a:r>
              <a:rPr lang="en-US" altLang="en-US" sz="2000">
                <a:solidFill>
                  <a:schemeClr val="tx1"/>
                </a:solidFill>
              </a:rPr>
              <a:t> The name of the column you want on the vertical axis, written as a "string" (optional for some plots like countplot).</a:t>
            </a:r>
            <a:endParaRPr lang="en-US" altLang="en-US" sz="200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altLang="en-US" sz="2000" b="1">
                <a:solidFill>
                  <a:schemeClr val="tx1"/>
                </a:solidFill>
                <a:cs typeface="Arial Bold" panose="020B0604020202090204" charset="0"/>
              </a:rPr>
              <a:t>hue=: </a:t>
            </a:r>
            <a:r>
              <a:rPr lang="en-US" altLang="en-US" sz="2000">
                <a:solidFill>
                  <a:schemeClr val="tx1"/>
                </a:solidFill>
              </a:rPr>
              <a:t>The name of the column you want to use for color-coding groups, written as a "string" (optional).</a:t>
            </a:r>
            <a:endParaRPr lang="en-US" altLang="en-US" sz="20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941705" y="1123950"/>
          <a:ext cx="9846310" cy="5393055"/>
        </p:xfrm>
        <a:graphic>
          <a:graphicData uri="http://schemas.openxmlformats.org/drawingml/2006/table">
            <a:tbl>
              <a:tblPr/>
              <a:tblGrid>
                <a:gridCol w="1193165"/>
                <a:gridCol w="1879600"/>
                <a:gridCol w="2016125"/>
                <a:gridCol w="1480185"/>
                <a:gridCol w="3277235"/>
              </a:tblGrid>
              <a:tr h="600710">
                <a:tc>
                  <a:txBody>
                    <a:bodyPr/>
                    <a:p>
                      <a:pPr algn="ctr"/>
                      <a:r>
                        <a:rPr sz="1200" b="1">
                          <a:ea typeface="+mn-ea"/>
                        </a:rPr>
                        <a:t>No. of Variables</a:t>
                      </a:r>
                      <a:endParaRPr sz="12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b="1">
                          <a:ea typeface="+mn-ea"/>
                        </a:rPr>
                        <a:t>Variable Type</a:t>
                      </a:r>
                      <a:endParaRPr sz="12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b="1">
                          <a:ea typeface="+mn-ea"/>
                        </a:rPr>
                        <a:t>What you want to see</a:t>
                      </a:r>
                      <a:endParaRPr sz="12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b="1">
                          <a:ea typeface="+mn-ea"/>
                        </a:rPr>
                        <a:t>Best Plot</a:t>
                      </a:r>
                      <a:endParaRPr sz="12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 b="1">
                          <a:ea typeface="+mn-ea"/>
                        </a:rPr>
                        <a:t>Example</a:t>
                      </a:r>
                      <a:endParaRPr sz="12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8305"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1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Numerical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Distribution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histplot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sns.histplot(df['age'])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7670"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1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Numerical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Outliers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boxplot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sns.boxplot(x=df['chol'])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7670"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1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Categorical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Count/Frequency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countplot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sns.countplot(x=df['target'])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710"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2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Numerical vs Numerical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Relationship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scatterplot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sns.scatterplot(x='age', y='chol', data=df)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1345"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2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Numerical vs Numerical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Trend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lineplot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sns.lineplot(x='age', y='chol', data=df)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710"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2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Categorical vs Numerical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Compare distribution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boxplot 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sns.boxplot(x='target', y='chol', data=df)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0710"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2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Categorical vs Numerical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Distribution shape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violinplot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sns.violinplot(x='target', y='chol', data=df)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01345"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2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Categorical vs Categorical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Compare counts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countplot (hue)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sns.countplot(x='sex', hue='target', data=df)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63880"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Many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Numerical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Correlation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heatmap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200">
                          <a:ea typeface="+mn-ea"/>
                        </a:rPr>
                        <a:t>sns.heatmap(df.corr(), annot=True)</a:t>
                      </a:r>
                      <a:endParaRPr sz="12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941775" y="247085"/>
            <a:ext cx="10969200" cy="705600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Seaborn Plot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697230" y="1661160"/>
          <a:ext cx="10483850" cy="3797935"/>
        </p:xfrm>
        <a:graphic>
          <a:graphicData uri="http://schemas.openxmlformats.org/drawingml/2006/table">
            <a:tbl>
              <a:tblPr/>
              <a:tblGrid>
                <a:gridCol w="1684655"/>
                <a:gridCol w="1769110"/>
                <a:gridCol w="2737485"/>
                <a:gridCol w="2195830"/>
                <a:gridCol w="2096770"/>
              </a:tblGrid>
              <a:tr h="516255">
                <a:tc>
                  <a:txBody>
                    <a:bodyPr/>
                    <a:p>
                      <a:pPr algn="ctr"/>
                      <a:r>
                        <a:rPr sz="1800" b="1">
                          <a:ea typeface="+mn-ea"/>
                        </a:rPr>
                        <a:t>Category</a:t>
                      </a:r>
                      <a:endParaRPr sz="18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ea typeface="+mn-ea"/>
                        </a:rPr>
                        <a:t>Meaning</a:t>
                      </a:r>
                      <a:endParaRPr sz="18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ea typeface="+mn-ea"/>
                        </a:rPr>
                        <a:t>Data Type Used</a:t>
                      </a:r>
                      <a:endParaRPr sz="18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ea typeface="+mn-ea"/>
                        </a:rPr>
                        <a:t>Goal</a:t>
                      </a:r>
                      <a:endParaRPr sz="18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 b="1">
                          <a:ea typeface="+mn-ea"/>
                        </a:rPr>
                        <a:t>Common Plots</a:t>
                      </a:r>
                      <a:endParaRPr sz="18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9935">
                <a:tc>
                  <a:txBody>
                    <a:bodyPr/>
                    <a:p>
                      <a:pPr algn="ctr"/>
                      <a:r>
                        <a:rPr sz="1800" b="1">
                          <a:ea typeface="+mn-ea"/>
                        </a:rPr>
                        <a:t>Distribution</a:t>
                      </a:r>
                      <a:endParaRPr sz="18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</a:rPr>
                        <a:t>How data is spread</a:t>
                      </a:r>
                      <a:endParaRPr sz="18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</a:rPr>
                        <a:t>Numerical</a:t>
                      </a:r>
                      <a:endParaRPr sz="18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</a:rPr>
                        <a:t>Understand shape, spread, density</a:t>
                      </a:r>
                      <a:endParaRPr sz="18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</a:rPr>
                        <a:t>histplot, kdeplot, displot</a:t>
                      </a:r>
                      <a:endParaRPr sz="18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9300">
                <a:tc>
                  <a:txBody>
                    <a:bodyPr/>
                    <a:p>
                      <a:pPr algn="ctr"/>
                      <a:r>
                        <a:rPr sz="1800" b="1">
                          <a:ea typeface="+mn-ea"/>
                        </a:rPr>
                        <a:t>Categorical</a:t>
                      </a:r>
                      <a:endParaRPr sz="18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</a:rPr>
                        <a:t>Compare groups</a:t>
                      </a:r>
                      <a:endParaRPr sz="18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</a:rPr>
                        <a:t>Category + Numerical</a:t>
                      </a:r>
                      <a:endParaRPr sz="18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</a:rPr>
                        <a:t>Compare values across groups</a:t>
                      </a:r>
                      <a:endParaRPr sz="18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</a:rPr>
                        <a:t>boxplot, violinplot, barplot, countplot</a:t>
                      </a:r>
                      <a:endParaRPr sz="18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749935">
                <a:tc>
                  <a:txBody>
                    <a:bodyPr/>
                    <a:p>
                      <a:pPr algn="ctr"/>
                      <a:r>
                        <a:rPr sz="1800" b="1">
                          <a:ea typeface="+mn-ea"/>
                        </a:rPr>
                        <a:t>Relational</a:t>
                      </a:r>
                      <a:endParaRPr sz="18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</a:rPr>
                        <a:t>Relationship between variables</a:t>
                      </a:r>
                      <a:endParaRPr sz="18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</a:rPr>
                        <a:t>Numerical ↔ Numerical</a:t>
                      </a:r>
                      <a:endParaRPr sz="18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</a:rPr>
                        <a:t>Find patterns, trends, correlation</a:t>
                      </a:r>
                      <a:endParaRPr sz="18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</a:rPr>
                        <a:t>scatterplot, lineplot</a:t>
                      </a:r>
                      <a:endParaRPr sz="18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16255">
                <a:tc>
                  <a:txBody>
                    <a:bodyPr/>
                    <a:p>
                      <a:pPr algn="ctr"/>
                      <a:r>
                        <a:rPr sz="1800" b="1">
                          <a:ea typeface="+mn-ea"/>
                        </a:rPr>
                        <a:t>Matrix</a:t>
                      </a:r>
                      <a:endParaRPr sz="1800" b="1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</a:rPr>
                        <a:t>2D structured relationships</a:t>
                      </a:r>
                      <a:endParaRPr sz="18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</a:rPr>
                        <a:t>Numerical (matrix form)</a:t>
                      </a:r>
                      <a:endParaRPr sz="18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</a:rPr>
                        <a:t>Find correlations or intensity</a:t>
                      </a:r>
                      <a:endParaRPr sz="18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sz="1800">
                          <a:ea typeface="+mn-ea"/>
                        </a:rPr>
                        <a:t>heatmap, clustermap</a:t>
                      </a:r>
                      <a:endParaRPr sz="1800">
                        <a:ea typeface="+mn-ea"/>
                      </a:endParaRPr>
                    </a:p>
                  </a:txBody>
                  <a:tcPr marL="152717" marR="152717" marT="101917" marB="101917" anchor="ctr" anchorCtr="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itle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Seaborn Plot Categories</a:t>
            </a:r>
            <a:endParaRPr lang="en-US" dirty="0">
              <a:ea typeface="+mj-ea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wrap="square" lIns="0" tIns="0" rIns="0" bIns="0" rtlCol="0" anchor="b" anchorCtr="0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Seaborn Histograms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08965" y="1414144"/>
            <a:ext cx="10800000" cy="4873625"/>
          </a:xfrm>
          <a:prstGeom prst="rect">
            <a:avLst/>
          </a:prstGeom>
        </p:spPr>
        <p:txBody>
          <a:bodyPr vert="horz" wrap="square" lIns="90000" tIns="46800" rIns="90000" bIns="46800" rtlCol="0">
            <a:normAutofit fontScale="90000" lnSpcReduction="10000"/>
          </a:bodyPr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>
                <a:solidFill>
                  <a:schemeClr val="tx1"/>
                </a:solidFill>
              </a:rPr>
              <a:t>A histogram is a visualization tool that represents the distribution of a single numerical variable by grouping data points into continuous, discrete ranges called bins.Core Components</a:t>
            </a:r>
            <a:endParaRPr lang="en-US" altLang="en-US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altLang="en-US">
                <a:solidFill>
                  <a:schemeClr val="tx1"/>
                </a:solidFill>
              </a:rPr>
              <a:t>Bins: Contiguous intervals of your variable plotted on the X-axis. Adjusting bin width allows you to see the general shape or fine details of your data.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altLang="en-US">
                <a:solidFill>
                  <a:schemeClr val="tx1"/>
                </a:solidFill>
              </a:rPr>
              <a:t>Bar Heights: Represents the number of observations (count), density, or probability falling into that specific bin.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altLang="en-US">
                <a:solidFill>
                  <a:schemeClr val="tx1"/>
                </a:solidFill>
              </a:rPr>
              <a:t>Kernel Density Estimate (KDE): A smooth curve that estimates the probability density function of the data, helping to visualize the underlying distribution without rigid bins.</a:t>
            </a:r>
            <a:endParaRPr lang="en-US" altLang="en-US">
              <a:solidFill>
                <a:schemeClr val="tx1"/>
              </a:solidFill>
            </a:endParaRPr>
          </a:p>
          <a:p>
            <a:pPr algn="just"/>
            <a:r>
              <a:rPr lang="en-US" altLang="en-US" b="1">
                <a:solidFill>
                  <a:schemeClr val="tx1"/>
                </a:solidFill>
                <a:cs typeface="Arial Bold" panose="020B0604020202090204" charset="0"/>
              </a:rPr>
              <a:t>When to Use It:</a:t>
            </a:r>
            <a:endParaRPr lang="en-US" altLang="en-US" b="1">
              <a:solidFill>
                <a:schemeClr val="tx1"/>
              </a:solidFill>
              <a:cs typeface="Arial Bold" panose="020B0604020202090204" charset="0"/>
            </a:endParaRPr>
          </a:p>
          <a:p>
            <a:pPr marL="0" indent="0" algn="just">
              <a:buNone/>
            </a:pPr>
            <a:r>
              <a:rPr lang="en-US" altLang="en-US">
                <a:solidFill>
                  <a:schemeClr val="tx1"/>
                </a:solidFill>
              </a:rPr>
              <a:t>To understand the shape of your data (e.g., is it normally distributed, skewed, or bimodal?).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altLang="en-US">
                <a:solidFill>
                  <a:schemeClr val="tx1"/>
                </a:solidFill>
              </a:rPr>
              <a:t>To quickly identify outliers or gaps where no data exists.</a:t>
            </a:r>
            <a:endParaRPr lang="en-US" altLang="en-US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altLang="en-US">
                <a:solidFill>
                  <a:schemeClr val="tx1"/>
                </a:solidFill>
              </a:rPr>
              <a:t>To compare the distributions of a continuous variable across different categories (using the hue parameter)</a:t>
            </a:r>
            <a:endParaRPr lang="en-US" alt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Seaborn Box Plot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46100" y="1226820"/>
            <a:ext cx="10800080" cy="5284470"/>
          </a:xfrm>
          <a:prstGeom prst="rect">
            <a:avLst/>
          </a:prstGeom>
        </p:spPr>
        <p:txBody>
          <a:bodyPr vert="horz" wrap="square" lIns="90000" tIns="46800" rIns="90000" bIns="46800" rtlCol="0"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n-US" sz="1600">
                <a:solidFill>
                  <a:schemeClr val="tx1"/>
                </a:solidFill>
              </a:rPr>
              <a:t>A box plot (or box-and-whisker plot) summarizes numerical data by dividing it into quartiles.</a:t>
            </a:r>
            <a:endParaRPr lang="en-US" altLang="en-US" sz="1600">
              <a:solidFill>
                <a:schemeClr val="tx1"/>
              </a:solidFill>
            </a:endParaRPr>
          </a:p>
          <a:p>
            <a:pPr algn="just"/>
            <a:r>
              <a:rPr lang="en-US" altLang="en-US" sz="1600" b="1">
                <a:solidFill>
                  <a:schemeClr val="tx1"/>
                </a:solidFill>
                <a:cs typeface="Arial Bold" panose="020B0604020202090204" charset="0"/>
              </a:rPr>
              <a:t>Core Components</a:t>
            </a:r>
            <a:endParaRPr lang="en-US" altLang="en-US" sz="1600" b="1">
              <a:solidFill>
                <a:schemeClr val="tx1"/>
              </a:solidFill>
              <a:cs typeface="Arial Bold" panose="020B0604020202090204" charset="0"/>
            </a:endParaRPr>
          </a:p>
          <a:p>
            <a:pPr marL="0" indent="0" algn="just">
              <a:buNone/>
            </a:pPr>
            <a:r>
              <a:rPr lang="en-US" altLang="en-US" sz="1600">
                <a:solidFill>
                  <a:schemeClr val="tx1"/>
                </a:solidFill>
              </a:rPr>
              <a:t>Median (50th percentile): The center horizontal line dividing the box. Half the data is above, and half is below.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altLang="en-US" sz="1600">
                <a:solidFill>
                  <a:schemeClr val="tx1"/>
                </a:solidFill>
              </a:rPr>
              <a:t>Box (Interquartile Range - IQR): Extends from the 25th percentile (lower quartile) to the 75th percentile (upper quartile). It shows the spread of the middle 50% of your data.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altLang="en-US" sz="1600">
                <a:solidFill>
                  <a:schemeClr val="tx1"/>
                </a:solidFill>
              </a:rPr>
              <a:t>Whiskers: Typically extend to 1.5 × IQR to capture the rest of the standard distribution.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altLang="en-US" sz="1600">
                <a:solidFill>
                  <a:schemeClr val="tx1"/>
                </a:solidFill>
              </a:rPr>
              <a:t>Outliers: Individual points (usually dots) that fall beyond the whiskers, representing anomalous or extreme values.</a:t>
            </a:r>
            <a:endParaRPr lang="en-US" altLang="en-US" sz="1600">
              <a:solidFill>
                <a:schemeClr val="tx1"/>
              </a:solidFill>
            </a:endParaRPr>
          </a:p>
          <a:p>
            <a:pPr algn="just"/>
            <a:r>
              <a:rPr lang="en-US" altLang="en-US" sz="1600" b="1">
                <a:solidFill>
                  <a:schemeClr val="tx1"/>
                </a:solidFill>
                <a:cs typeface="Arial Bold" panose="020B0604020202090204" charset="0"/>
              </a:rPr>
              <a:t>When to Use It</a:t>
            </a:r>
            <a:endParaRPr lang="en-US" altLang="en-US" sz="1600" b="1">
              <a:solidFill>
                <a:schemeClr val="tx1"/>
              </a:solidFill>
              <a:cs typeface="Arial Bold" panose="020B0604020202090204" charset="0"/>
            </a:endParaRPr>
          </a:p>
          <a:p>
            <a:pPr marL="0" indent="0" algn="just">
              <a:buNone/>
            </a:pPr>
            <a:r>
              <a:rPr lang="en-US" altLang="en-US" sz="1600">
                <a:solidFill>
                  <a:schemeClr val="tx1"/>
                </a:solidFill>
              </a:rPr>
              <a:t>To compare distributions across different categories side-by-side.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altLang="en-US" sz="1600">
                <a:solidFill>
                  <a:schemeClr val="tx1"/>
                </a:solidFill>
              </a:rPr>
              <a:t>To explicitly detect and investigate outliers.</a:t>
            </a:r>
            <a:endParaRPr lang="en-US" altLang="en-US" sz="1600">
              <a:solidFill>
                <a:schemeClr val="tx1"/>
              </a:solidFill>
            </a:endParaRPr>
          </a:p>
          <a:p>
            <a:pPr marL="0" indent="0" algn="just">
              <a:buNone/>
            </a:pPr>
            <a:r>
              <a:rPr lang="en-US" altLang="en-US" sz="1600">
                <a:solidFill>
                  <a:schemeClr val="tx1"/>
                </a:solidFill>
              </a:rPr>
              <a:t>To observe the skewness (asymmetry) of data based on box and whisker lengths.</a:t>
            </a:r>
            <a:endParaRPr lang="en-US" altLang="en-US" sz="16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96000" y="147910"/>
            <a:ext cx="10800000" cy="720000"/>
          </a:xfrm>
        </p:spPr>
        <p:txBody>
          <a:bodyPr vert="horz" wrap="square" lIns="0" tIns="0" rIns="0" bIns="0" rtlCol="0" anchor="b" anchorCtr="0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pPr lvl="0" algn="l">
              <a:buClrTx/>
              <a:buSzTx/>
              <a:buFontTx/>
            </a:pPr>
            <a:r>
              <a:rPr lang="en-US" dirty="0">
                <a:ea typeface="+mj-ea"/>
                <a:sym typeface="+mn-ea"/>
              </a:rPr>
              <a:t>Correlation Matrix Heatmaps (heatmap)</a:t>
            </a:r>
            <a:endParaRPr lang="en-US" dirty="0">
              <a:ea typeface="+mj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95630" y="986155"/>
            <a:ext cx="10800080" cy="5448300"/>
          </a:xfrm>
          <a:prstGeom prst="rect">
            <a:avLst/>
          </a:prstGeom>
        </p:spPr>
        <p:txBody>
          <a:bodyPr vert="horz" wrap="square" lIns="90000" tIns="46800" rIns="90000" bIns="46800" rtlCol="0"/>
          <a:lstStyle>
            <a:lvl1pPr marL="2286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●"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9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90204" pitchFamily="34" charset="0"/>
              <a:buChar char="•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4400">
              <a:tabLst>
                <a:tab pos="5029200" algn="l"/>
              </a:tabLst>
            </a:pPr>
            <a:r>
              <a:rPr lang="en-US" altLang="en-US" sz="1200">
                <a:solidFill>
                  <a:schemeClr val="tx1"/>
                </a:solidFill>
              </a:rPr>
              <a:t>A correlation matrix is a square table where each cell shows the statistical (linear) correlation coefficient between two variables. </a:t>
            </a:r>
            <a:endParaRPr lang="en-US" altLang="en-US" sz="1200">
              <a:solidFill>
                <a:schemeClr val="tx1"/>
              </a:solidFill>
            </a:endParaRPr>
          </a:p>
          <a:p>
            <a:pPr defTabSz="914400">
              <a:tabLst>
                <a:tab pos="5029200" algn="l"/>
              </a:tabLst>
            </a:pPr>
            <a:r>
              <a:rPr lang="en-US" altLang="en-US" sz="1200">
                <a:solidFill>
                  <a:schemeClr val="tx1"/>
                </a:solidFill>
              </a:rPr>
              <a:t>When passed to a Seaborn heatmap, these coefficients are color-coded, allowing for the rapid interpretation of massive datasets.</a:t>
            </a:r>
            <a:endParaRPr lang="en-US" altLang="en-US" sz="1200">
              <a:solidFill>
                <a:schemeClr val="tx1"/>
              </a:solidFill>
            </a:endParaRPr>
          </a:p>
          <a:p>
            <a:pPr defTabSz="914400">
              <a:tabLst>
                <a:tab pos="5029200" algn="l"/>
              </a:tabLst>
            </a:pPr>
            <a:r>
              <a:rPr lang="en-US" altLang="en-US" sz="1200" b="1">
                <a:solidFill>
                  <a:schemeClr val="tx1"/>
                </a:solidFill>
                <a:cs typeface="Arial Bold" panose="020B0604020202090204" charset="0"/>
              </a:rPr>
              <a:t>Core Components:</a:t>
            </a:r>
            <a:endParaRPr lang="en-US" altLang="en-US" sz="1200" b="1">
              <a:solidFill>
                <a:schemeClr val="tx1"/>
              </a:solidFill>
              <a:cs typeface="Arial Bold" panose="020B0604020202090204" charset="0"/>
            </a:endParaRPr>
          </a:p>
          <a:p>
            <a:pPr marL="0" indent="0" defTabSz="914400">
              <a:buNone/>
              <a:tabLst>
                <a:tab pos="5029200" algn="l"/>
              </a:tabLst>
            </a:pPr>
            <a:r>
              <a:rPr lang="en-US" altLang="en-US" sz="1200">
                <a:solidFill>
                  <a:schemeClr val="tx1"/>
                </a:solidFill>
              </a:rPr>
              <a:t>Correlation Coefficient: Usually the Pearson r value, ranging from -1.0 to +1.0.</a:t>
            </a:r>
            <a:endParaRPr lang="en-US" altLang="en-US" sz="1200">
              <a:solidFill>
                <a:schemeClr val="tx1"/>
              </a:solidFill>
            </a:endParaRPr>
          </a:p>
          <a:p>
            <a:pPr marL="0" indent="0" defTabSz="914400">
              <a:buNone/>
              <a:tabLst>
                <a:tab pos="5029200" algn="l"/>
              </a:tabLst>
            </a:pPr>
            <a:r>
              <a:rPr lang="en-US" altLang="en-US" sz="1200">
                <a:solidFill>
                  <a:schemeClr val="tx1"/>
                </a:solidFill>
              </a:rPr>
              <a:t>Color Map (Colormap): Colors the cells depending on the strength and direction of the relationship </a:t>
            </a:r>
            <a:endParaRPr lang="en-US" altLang="en-US" sz="1200">
              <a:solidFill>
                <a:schemeClr val="tx1"/>
              </a:solidFill>
            </a:endParaRPr>
          </a:p>
          <a:p>
            <a:pPr marL="0" indent="0" defTabSz="914400">
              <a:buNone/>
              <a:tabLst>
                <a:tab pos="5029200" algn="l"/>
              </a:tabLst>
            </a:pPr>
            <a:r>
              <a:rPr lang="en-US" altLang="en-US" sz="1200">
                <a:solidFill>
                  <a:schemeClr val="tx1"/>
                </a:solidFill>
              </a:rPr>
              <a:t>Annotations (annot=True): Prints the actual numeric correlation values directly inside the colored grid cells.</a:t>
            </a:r>
            <a:endParaRPr lang="en-US" altLang="en-US" sz="1200">
              <a:solidFill>
                <a:schemeClr val="tx1"/>
              </a:solidFill>
            </a:endParaRPr>
          </a:p>
          <a:p>
            <a:pPr marL="0" indent="0" defTabSz="914400">
              <a:buNone/>
              <a:tabLst>
                <a:tab pos="5029200" algn="l"/>
              </a:tabLst>
            </a:pPr>
            <a:r>
              <a:rPr lang="en-US" altLang="en-US" sz="1200">
                <a:solidFill>
                  <a:schemeClr val="tx1"/>
                </a:solidFill>
              </a:rPr>
              <a:t>Diagonal: The diagonal line running from top-left to bottom-right always displays a perfect 1.0 because every variable perfectly correlates with itself.</a:t>
            </a:r>
            <a:endParaRPr lang="en-US" altLang="en-US" sz="1200">
              <a:solidFill>
                <a:schemeClr val="tx1"/>
              </a:solidFill>
            </a:endParaRPr>
          </a:p>
          <a:p>
            <a:pPr defTabSz="914400">
              <a:tabLst>
                <a:tab pos="5029200" algn="l"/>
              </a:tabLst>
            </a:pPr>
            <a:r>
              <a:rPr lang="en-US" altLang="en-US" sz="1200" b="1">
                <a:solidFill>
                  <a:schemeClr val="tx1"/>
                </a:solidFill>
                <a:cs typeface="Arial Bold" panose="020B0604020202090204" charset="0"/>
              </a:rPr>
              <a:t>How to Interpret:</a:t>
            </a:r>
            <a:endParaRPr lang="en-US" altLang="en-US" sz="1200" b="1">
              <a:solidFill>
                <a:schemeClr val="tx1"/>
              </a:solidFill>
              <a:cs typeface="Arial Bold" panose="020B0604020202090204" charset="0"/>
            </a:endParaRPr>
          </a:p>
          <a:p>
            <a:pPr marL="0" indent="0" defTabSz="914400">
              <a:buNone/>
              <a:tabLst>
                <a:tab pos="5029200" algn="l"/>
              </a:tabLst>
            </a:pPr>
            <a:r>
              <a:rPr lang="en-US" altLang="en-US" sz="1200">
                <a:solidFill>
                  <a:schemeClr val="tx1"/>
                </a:solidFill>
              </a:rPr>
              <a:t>Positive Correlation (0 to +1.0): As one variable increases, the other variable increases.</a:t>
            </a:r>
            <a:endParaRPr lang="en-US" altLang="en-US" sz="1200">
              <a:solidFill>
                <a:schemeClr val="tx1"/>
              </a:solidFill>
            </a:endParaRPr>
          </a:p>
          <a:p>
            <a:pPr marL="0" indent="0" defTabSz="914400">
              <a:buNone/>
              <a:tabLst>
                <a:tab pos="5029200" algn="l"/>
              </a:tabLst>
            </a:pPr>
            <a:r>
              <a:rPr lang="en-US" altLang="en-US" sz="1200">
                <a:solidFill>
                  <a:schemeClr val="tx1"/>
                </a:solidFill>
              </a:rPr>
              <a:t>Negative Correlation (0 to -1.0): As one variable increases, the other decreases.</a:t>
            </a:r>
            <a:endParaRPr lang="en-US" altLang="en-US" sz="1200">
              <a:solidFill>
                <a:schemeClr val="tx1"/>
              </a:solidFill>
            </a:endParaRPr>
          </a:p>
          <a:p>
            <a:pPr marL="0" indent="0" defTabSz="914400">
              <a:buNone/>
              <a:tabLst>
                <a:tab pos="5029200" algn="l"/>
              </a:tabLst>
            </a:pPr>
            <a:r>
              <a:rPr lang="en-US" altLang="en-US" sz="1200">
                <a:solidFill>
                  <a:schemeClr val="tx1"/>
                </a:solidFill>
              </a:rPr>
              <a:t>No Correlation (Near 0): No linear relationship exists between the two variables.</a:t>
            </a:r>
            <a:endParaRPr lang="en-US" altLang="en-US" sz="1200">
              <a:solidFill>
                <a:schemeClr val="tx1"/>
              </a:solidFill>
            </a:endParaRPr>
          </a:p>
          <a:p>
            <a:pPr defTabSz="914400">
              <a:tabLst>
                <a:tab pos="5029200" algn="l"/>
              </a:tabLst>
            </a:pPr>
            <a:r>
              <a:rPr lang="en-US" altLang="en-US" sz="1200" b="1">
                <a:solidFill>
                  <a:schemeClr val="tx1"/>
                </a:solidFill>
                <a:cs typeface="Arial Bold" panose="020B0604020202090204" charset="0"/>
              </a:rPr>
              <a:t>When to Use It:</a:t>
            </a:r>
            <a:endParaRPr lang="en-US" altLang="en-US" sz="1200" b="1">
              <a:solidFill>
                <a:schemeClr val="tx1"/>
              </a:solidFill>
              <a:cs typeface="Arial Bold" panose="020B0604020202090204" charset="0"/>
            </a:endParaRPr>
          </a:p>
          <a:p>
            <a:pPr marL="0" indent="0" defTabSz="914400">
              <a:buNone/>
              <a:tabLst>
                <a:tab pos="5029200" algn="l"/>
              </a:tabLst>
            </a:pPr>
            <a:r>
              <a:rPr lang="en-US" altLang="en-US" sz="1200">
                <a:solidFill>
                  <a:schemeClr val="tx1"/>
                </a:solidFill>
              </a:rPr>
              <a:t>To identify collinearity (highly correlated variables) during feature selection for Machine Learning.</a:t>
            </a:r>
            <a:endParaRPr lang="en-US" altLang="en-US" sz="1200">
              <a:solidFill>
                <a:schemeClr val="tx1"/>
              </a:solidFill>
            </a:endParaRPr>
          </a:p>
          <a:p>
            <a:pPr marL="0" indent="0" defTabSz="914400">
              <a:buNone/>
              <a:tabLst>
                <a:tab pos="5029200" algn="l"/>
              </a:tabLst>
            </a:pPr>
            <a:r>
              <a:rPr lang="en-US" altLang="en-US" sz="1200">
                <a:solidFill>
                  <a:schemeClr val="tx1"/>
                </a:solidFill>
              </a:rPr>
              <a:t>To quickly uncover hidden relationships or dependencies across a high-dimensional dataset.</a:t>
            </a:r>
            <a:endParaRPr lang="en-US" altLang="en-US" sz="1200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8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8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9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9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0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11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2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124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1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130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82_1*f*4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Name"/>
</p:tagLst>
</file>

<file path=ppt/tags/tag131.xml><?xml version="1.0" encoding="utf-8"?>
<p:tagLst xmlns:p="http://schemas.openxmlformats.org/presentationml/2006/main">
  <p:tag name="KSO_WM_SPECIAL_SOURCE" val="bdnull"/>
  <p:tag name="KSO_WM_SLIDE_ID" val="custom2023348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TEMPLATE_THUMBS_INDEX" val="1、9"/>
  <p:tag name="KSO_WM_SLIDE_THEME_ID" val="3321262"/>
  <p:tag name="KSO_WM_SLIDE_THEME_NAME" val="White Minimalist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6"/>
  <p:tag name="KSO_WM_UNIT_TYPE" val="f"/>
  <p:tag name="KSO_WM_UNIT_SUBTYPE" val="a"/>
</p:tagLst>
</file>

<file path=ppt/tags/tag133.xml><?xml version="1.0" encoding="utf-8"?>
<p:tagLst xmlns:p="http://schemas.openxmlformats.org/presentationml/2006/main">
  <p:tag name="KSO_WM_UNIT_INDEX" val="2"/>
  <p:tag name="KSO_WM_UNIT_TYPE" val="β"/>
  <p:tag name="KSO_WM_BEAUTIFY_FLAG" val="#wm#"/>
</p:tagLst>
</file>

<file path=ppt/tags/tag13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36.xml><?xml version="1.0" encoding="utf-8"?>
<p:tagLst xmlns:p="http://schemas.openxmlformats.org/presentationml/2006/main">
  <p:tag name="KSO_WM_UNIT_INDEX" val="2"/>
  <p:tag name="KSO_WM_UNIT_TYPE" val="β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7*a*1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39.xml><?xml version="1.0" encoding="utf-8"?>
<p:tagLst xmlns:p="http://schemas.openxmlformats.org/presentationml/2006/main">
  <p:tag name="TABLE_ENDDRAG_ORIGIN_RECT" val="821*415"/>
  <p:tag name="TABLE_ENDDRAG_RECT" val="67*98*821*415"/>
  <p:tag name="KSO_WM_UNIT_INDEX" val="2"/>
  <p:tag name="KSO_WM_UNIT_TYPE" val="β"/>
  <p:tag name="KSO_WM_BEAUTIFY_FLAG" val="#wm#"/>
</p:tagLst>
</file>

<file path=ppt/tags/tag1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42.xml><?xml version="1.0" encoding="utf-8"?>
<p:tagLst xmlns:p="http://schemas.openxmlformats.org/presentationml/2006/main">
  <p:tag name="KSO_WM_UNIT_TEXT" val="Seaborn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8"/>
  <p:tag name="KSO_WM_UNIT_TYPE" val="f"/>
  <p:tag name="KSO_WM_UNIT_SUBTYPE" val="a"/>
</p:tagLst>
</file>

<file path=ppt/tags/tag14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45.xml><?xml version="1.0" encoding="utf-8"?>
<p:tagLst xmlns:p="http://schemas.openxmlformats.org/presentationml/2006/main">
  <p:tag name="TABLE_ENDDRAG_ORIGIN_RECT" val="775*424"/>
  <p:tag name="TABLE_ENDDRAG_RECT" val="74*88*775*424"/>
  <p:tag name="KSO_WM_UNIT_INDEX" val="2"/>
  <p:tag name="KSO_WM_UNIT_TYPE" val="β"/>
  <p:tag name="KSO_WM_BEAUTIFY_FLAG" val="#wm#"/>
</p:tagLst>
</file>

<file path=ppt/tags/tag146.xml><?xml version="1.0" encoding="utf-8"?>
<p:tagLst xmlns:p="http://schemas.openxmlformats.org/presentationml/2006/main">
  <p:tag name="KSO_WM_UNIT_TEXT" val="Common Seaborn Plot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7*a*1"/>
</p:tagLst>
</file>

<file path=ppt/tags/tag14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48.xml><?xml version="1.0" encoding="utf-8"?>
<p:tagLst xmlns:p="http://schemas.openxmlformats.org/presentationml/2006/main">
  <p:tag name="KSO_WM_UNIT_INDEX" val="2"/>
  <p:tag name="KSO_WM_UNIT_TYPE" val="β"/>
  <p:tag name="KSO_WM_BEAUTIFY_FLAG" val="#wm#"/>
</p:tagLst>
</file>

<file path=ppt/tags/tag149.xml><?xml version="1.0" encoding="utf-8"?>
<p:tagLst xmlns:p="http://schemas.openxmlformats.org/presentationml/2006/main">
  <p:tag name="KSO_WM_UNIT_TEXT" val="Seaborn Plot 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7*a*1"/>
</p:tagLst>
</file>

<file path=ppt/tags/tag15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51.xml><?xml version="1.0" encoding="utf-8"?>
<p:tagLst xmlns:p="http://schemas.openxmlformats.org/presentationml/2006/main">
  <p:tag name="KSO_WM_UNIT_TEXT" val="Seaborn Syntax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9"/>
  <p:tag name="KSO_WM_UNIT_TYPE" val="f"/>
  <p:tag name="KSO_WM_UNIT_SUBTYPE" val="a"/>
</p:tagLst>
</file>

<file path=ppt/tags/tag15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54.xml><?xml version="1.0" encoding="utf-8"?>
<p:tagLst xmlns:p="http://schemas.openxmlformats.org/presentationml/2006/main">
  <p:tag name="KSO_WM_UNIT_TEXT" val="Seaborn Histograms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1"/>
  <p:tag name="KSO_WM_UNIT_TYPE" val="f"/>
  <p:tag name="KSO_WM_UNIT_SUBTYPE" val="a"/>
</p:tagLst>
</file>

<file path=ppt/tags/tag15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ags/tag157.xml><?xml version="1.0" encoding="utf-8"?>
<p:tagLst xmlns:p="http://schemas.openxmlformats.org/presentationml/2006/main">
  <p:tag name="KSO_WM_UNIT_TEXT" val="Seaborn Box Plot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3.0"/>
  <p:tag name="KSO_WM_BEAUTIFY_FLAG" val="#wm#"/>
  <p:tag name="KSO_WM_UNIT_INDEX" val="1"/>
  <p:tag name="KSO_WM_UNIT_TYPE" val="a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ID" val="_2*a*1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AG_VERSION" val="1.0"/>
  <p:tag name="KSO_WM_BEAUTIFY_FLAG" val="#wm#"/>
  <p:tag name="KSO_WM_UNIT_INDEX" val="15"/>
  <p:tag name="KSO_WM_UNIT_TYPE" val="f"/>
  <p:tag name="KSO_WM_UNIT_SUBTYPE" val="a"/>
</p:tagLst>
</file>

<file path=ppt/tags/tag1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KSO_WM_SLIDE_TYPE" val="text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6539</Words>
  <Application>WPS Presentation</Application>
  <PresentationFormat>Widescreen</PresentationFormat>
  <Paragraphs>368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SimSun</vt:lpstr>
      <vt:lpstr>Wingdings</vt:lpstr>
      <vt:lpstr>Wingdings</vt:lpstr>
      <vt:lpstr>tim</vt:lpstr>
      <vt:lpstr>苹方-简</vt:lpstr>
      <vt:lpstr>Arial Bold</vt:lpstr>
      <vt:lpstr>Lato</vt:lpstr>
      <vt:lpstr>Manrope ExtraBold</vt:lpstr>
      <vt:lpstr>Microsoft YaHei</vt:lpstr>
      <vt:lpstr>汉仪旗黑</vt:lpstr>
      <vt:lpstr>Calibri</vt:lpstr>
      <vt:lpstr>Helvetica Neue</vt:lpstr>
      <vt:lpstr>宋体-简</vt:lpstr>
      <vt:lpstr>Arial Unicode MS</vt:lpstr>
      <vt:lpstr>SimSun</vt:lpstr>
      <vt:lpstr>WPS</vt:lpstr>
      <vt:lpstr>1_Office Theme</vt:lpstr>
      <vt:lpstr>Track 5: Data Intelligence &amp; AI</vt:lpstr>
      <vt:lpstr>Seaborn</vt:lpstr>
      <vt:lpstr>Matplotlib vs Seaborn</vt:lpstr>
      <vt:lpstr>Common Seaborn Plot</vt:lpstr>
      <vt:lpstr>Seaborn Syntax</vt:lpstr>
      <vt:lpstr>Seaborn Plot</vt:lpstr>
      <vt:lpstr>Seaborn Plot Categories</vt:lpstr>
      <vt:lpstr>Seaborn Histograms</vt:lpstr>
      <vt:lpstr>Seaborn Box Plot</vt:lpstr>
      <vt:lpstr>Correlation Matrix Heatmaps (heatmap)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dratulkumarramotra</dc:creator>
  <cp:lastModifiedBy>dratulkumarramotra</cp:lastModifiedBy>
  <cp:revision>18</cp:revision>
  <dcterms:created xsi:type="dcterms:W3CDTF">2026-06-20T02:52:30Z</dcterms:created>
  <dcterms:modified xsi:type="dcterms:W3CDTF">2026-06-20T02:52:30Z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1033-12.1.25897.25897</vt:lpwstr>
  </property>
  <property fmtid="{D5CDD505-2E9C-101B-9397-08002B2CF9AE}" pid="3" name="ICV">
    <vt:lpwstr>845A790927CEA55E23FF356A0962F4FB_43</vt:lpwstr>
  </property>
</Properties>
</file>