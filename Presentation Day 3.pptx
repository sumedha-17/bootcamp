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90204" pitchFamily="34" charset="0"/>
              <a:ea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90204" pitchFamily="34" charset="0"/>
              <a:ea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90204" pitchFamily="34" charset="0"/>
          <a:ea typeface="Arial" panose="020B0604020202090204" pitchFamily="34" charset="0"/>
          <a:cs typeface="Arial" panose="020B0604020202090204" pitchFamily="34" charset="0"/>
          <a:sym typeface="Arial" panose="020B060402020209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Arial" panose="020B0604020202090204" pitchFamily="34" charset="0"/>
          <a:cs typeface="Arial" panose="020B0604020202090204" pitchFamily="34" charset="0"/>
          <a:sym typeface="Arial" panose="020B060402020209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4.xml"/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78.xml"/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tags" Target="../tags/tag174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tags" Target="../tags/tag181.xml"/><Relationship Id="rId2" Type="http://schemas.openxmlformats.org/officeDocument/2006/relationships/tags" Target="../tags/tag180.xml"/><Relationship Id="rId1" Type="http://schemas.openxmlformats.org/officeDocument/2006/relationships/tags" Target="../tags/tag1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>
            <a:normAutofit/>
          </a:bodyPr>
          <a:lstStyle/>
          <a:p>
            <a:r>
              <a:rPr lang="en-US" altLang="en-US" dirty="0">
                <a:ea typeface="+mj-ea"/>
              </a:rPr>
              <a:t>Track 5: Data Intelligence &amp; AI</a:t>
            </a:r>
            <a:endParaRPr lang="en-US" altLang="en-US" dirty="0">
              <a:ea typeface="+mj-ea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>
            <a:normAutofit/>
          </a:bodyPr>
          <a:lstStyle/>
          <a:p>
            <a:r>
              <a:rPr lang="en-US" dirty="0">
                <a:ea typeface="+mn-ea"/>
              </a:rPr>
              <a:t>By Dr. Atul Kumar Ramotra</a:t>
            </a:r>
            <a:endParaRPr lang="en-US" dirty="0"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Limitations of NumPy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fontScale="9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en-US">
                <a:solidFill>
                  <a:schemeClr val="tx1"/>
                </a:solidFill>
                <a:cs typeface=".AppleSystemUIFont Regular" charset="0"/>
              </a:rPr>
              <a:t>While NumPy is highly optimized for numerical computing, it has significant constraints when applied to complex data analysis:</a:t>
            </a:r>
            <a:endParaRPr lang="en-US" altLang="en-US">
              <a:solidFill>
                <a:schemeClr val="tx1"/>
              </a:solidFill>
              <a:cs typeface=".AppleSystemUIFont Regular" charset="0"/>
            </a:endParaRPr>
          </a:p>
          <a:p>
            <a:pPr algn="just"/>
            <a:r>
              <a:rPr lang="en-US" altLang="en-US" b="1">
                <a:solidFill>
                  <a:schemeClr val="tx1"/>
                </a:solidFill>
                <a:cs typeface=".AppleSystemUIFont Regular" charset="0"/>
              </a:rPr>
              <a:t>Single data type restriction: </a:t>
            </a:r>
            <a:r>
              <a:rPr lang="en-US" altLang="en-US">
                <a:solidFill>
                  <a:schemeClr val="tx1"/>
                </a:solidFill>
                <a:cs typeface=".AppleSystemUIFont Regular" charset="0"/>
              </a:rPr>
              <a:t>Impossible to store mixed data like text, dates, and numbers in one matrix.</a:t>
            </a:r>
            <a:endParaRPr lang="en-US" altLang="en-US">
              <a:solidFill>
                <a:schemeClr val="tx1"/>
              </a:solidFill>
              <a:cs typeface=".AppleSystemUIFont Regular" charset="0"/>
            </a:endParaRPr>
          </a:p>
          <a:p>
            <a:pPr algn="just"/>
            <a:r>
              <a:rPr lang="en-US" altLang="en-US" b="1">
                <a:solidFill>
                  <a:schemeClr val="tx1"/>
                </a:solidFill>
                <a:cs typeface=".AppleSystemUIFont Regular" charset="0"/>
              </a:rPr>
              <a:t>No built-in column names:</a:t>
            </a:r>
            <a:r>
              <a:rPr lang="en-US" altLang="en-US">
                <a:solidFill>
                  <a:schemeClr val="tx1"/>
                </a:solidFill>
                <a:cs typeface=".AppleSystemUIFont Regular" charset="0"/>
              </a:rPr>
              <a:t> Access data rows and columns using numerical coordinates (0, 1, 2...) rather than readable text headers.</a:t>
            </a:r>
            <a:endParaRPr lang="en-US" altLang="en-US">
              <a:solidFill>
                <a:schemeClr val="tx1"/>
              </a:solidFill>
              <a:cs typeface=".AppleSystemUIFont Regular" charset="0"/>
            </a:endParaRPr>
          </a:p>
          <a:p>
            <a:pPr algn="just"/>
            <a:r>
              <a:rPr lang="en-US" altLang="en-US" b="1">
                <a:solidFill>
                  <a:schemeClr val="tx1"/>
                </a:solidFill>
                <a:cs typeface=".AppleSystemUIFont Regular" charset="0"/>
              </a:rPr>
              <a:t>Poor missing data management:</a:t>
            </a:r>
            <a:r>
              <a:rPr lang="en-US" altLang="en-US">
                <a:solidFill>
                  <a:schemeClr val="tx1"/>
                </a:solidFill>
                <a:cs typeface=".AppleSystemUIFont Regular" charset="0"/>
              </a:rPr>
              <a:t> It lacks robust, native mechanisms to track, filter, or impute missing or null values effortlessly.</a:t>
            </a:r>
            <a:endParaRPr lang="en-US" altLang="en-US">
              <a:solidFill>
                <a:schemeClr val="tx1"/>
              </a:solidFill>
              <a:cs typeface=".AppleSystemUIFont Regular" charset="0"/>
            </a:endParaRPr>
          </a:p>
          <a:p>
            <a:pPr algn="just"/>
            <a:r>
              <a:rPr lang="en-US" altLang="en-US" b="1">
                <a:solidFill>
                  <a:schemeClr val="tx1"/>
                </a:solidFill>
                <a:cs typeface=".AppleSystemUIFont Regular" charset="0"/>
              </a:rPr>
              <a:t>Strict shape alignment rules:</a:t>
            </a:r>
            <a:r>
              <a:rPr lang="en-US" altLang="en-US">
                <a:solidFill>
                  <a:schemeClr val="tx1"/>
                </a:solidFill>
                <a:cs typeface=".AppleSystemUIFont Regular" charset="0"/>
              </a:rPr>
              <a:t> Performing operations on two arrays requires them to have matching shapes, or they will fail, as NumPy cannot automatically align mismatched indexes.</a:t>
            </a:r>
            <a:endParaRPr lang="en-US" altLang="en-US">
              <a:solidFill>
                <a:schemeClr val="tx1"/>
              </a:solidFill>
              <a:cs typeface=".AppleSystemUIFont Regular" charset="0"/>
            </a:endParaRPr>
          </a:p>
          <a:p>
            <a:pPr algn="just"/>
            <a:r>
              <a:rPr lang="en-US" altLang="en-US" b="1">
                <a:solidFill>
                  <a:schemeClr val="tx1"/>
                </a:solidFill>
                <a:cs typeface=".AppleSystemUIFont Regular" charset="0"/>
              </a:rPr>
              <a:t>No native file parsing</a:t>
            </a:r>
            <a:r>
              <a:rPr lang="en-US" altLang="en-US">
                <a:solidFill>
                  <a:schemeClr val="tx1"/>
                </a:solidFill>
                <a:cs typeface=".AppleSystemUIFont Regular" charset="0"/>
              </a:rPr>
              <a:t>: It cannot easily ingest or write complex structured business files like Excel spreadsheets, JSON payloads, or SQL queries.</a:t>
            </a:r>
            <a:endParaRPr lang="en-US" altLang="en-US">
              <a:solidFill>
                <a:schemeClr val="tx1"/>
              </a:solidFill>
              <a:cs typeface=".AppleSystemUIFont Regular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Pandas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>
                <a:solidFill>
                  <a:schemeClr val="tx1"/>
                </a:solidFill>
              </a:rPr>
              <a:t>Open-source library: Free, community-driven Python tool for data science.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Built on NumPy: Uses NumPy's fast engine for its internal data storage.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Tabular focus: Purpose-built to handle 2D data like Excel spreadsheets.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2000" b="1">
                <a:solidFill>
                  <a:schemeClr val="tx1"/>
                </a:solidFill>
                <a:cs typeface="Arial Bold" panose="020B0604020202090204" charset="0"/>
              </a:rPr>
              <a:t>Core Data Structures</a:t>
            </a:r>
            <a:endParaRPr lang="en-US" altLang="en-US" sz="2000" b="1">
              <a:solidFill>
                <a:schemeClr val="tx1"/>
              </a:solidFill>
              <a:cs typeface="Arial Bold" panose="020B0604020202090204" charset="0"/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Series: One-dimensional labeled array representing a single data column.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DataFrame: Two-dimensional table-like structure containing multiple rows and columns.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Index: Explicit row and column labels used to easily lookup data.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sz="2000">
              <a:solidFill>
                <a:schemeClr val="tx1"/>
              </a:solidFill>
            </a:endParaRPr>
          </a:p>
          <a:p>
            <a:endParaRPr lang="en-US" altLang="en-US" sz="200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Pandas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2000">
                <a:solidFill>
                  <a:schemeClr val="tx1"/>
                </a:solidFill>
              </a:rPr>
              <a:t>Pandas lets you work with data in a tabular form (rows &amp; columns)—just like Excel—but using Python code.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2000">
                <a:solidFill>
                  <a:schemeClr val="tx1"/>
                </a:solidFill>
              </a:rPr>
              <a:t>Key Capabilities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File ingestion: Imports and exports CSV, Excel, JSON, and SQL database files.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Heterogeneous data: Stores mixed data types (text, numbers, dates) in one table.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Missing data management: Provides built-in functions to easily clean or drop null cells.</a:t>
            </a:r>
            <a:endParaRPr lang="en-US" altLang="en-US" sz="2000">
              <a:solidFill>
                <a:schemeClr val="tx1"/>
              </a:solidFill>
            </a:endParaRPr>
          </a:p>
          <a:p>
            <a:r>
              <a:rPr lang="en-US" altLang="en-US" sz="2000">
                <a:solidFill>
                  <a:schemeClr val="tx1"/>
                </a:solidFill>
              </a:rPr>
              <a:t>Relational operations: Merges, joins, groups, filtering, grouping like SQL.</a:t>
            </a:r>
            <a:endParaRPr lang="en-US" altLang="en-US" sz="200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Pandas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</a:rPr>
              <a:t>1. Series (1D Data) : One column of data: It represents a single list of values, just like a single column in an Excel sheet or a single vector in math.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</a:rPr>
              <a:t>Labeled array: Every element in a Series has a specific label called an index (by default, it starts at 0, 1, 2...).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</a:rPr>
              <a:t>Homogeneous: Unlike a full table, all data inside a single Series should ideally share the same data type (e.g., all integers, all strings, or all booleans)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</a:rPr>
              <a:t>A single column of data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</a:rPr>
              <a:t>   import pandas as pd                #  0    25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</a:rPr>
              <a:t>   </a:t>
            </a:r>
            <a:r>
              <a:rPr lang="en-US" altLang="en-US" sz="1600">
                <a:solidFill>
                  <a:schemeClr val="tx1"/>
                </a:solidFill>
                <a:sym typeface="+mn-ea"/>
              </a:rPr>
              <a:t>s = pd.Series([10, 20, 30])          1    30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  <a:sym typeface="+mn-ea"/>
              </a:rPr>
              <a:t>   print(s)                                           2    35</a:t>
            </a:r>
            <a:r>
              <a:rPr lang="en-US" altLang="en-US" sz="1600">
                <a:solidFill>
                  <a:schemeClr val="tx1"/>
                </a:solidFill>
              </a:rPr>
              <a:t>                        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</a:rPr>
              <a:t>ages = [25, 30, 35]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</a:rPr>
              <a:t>age_series = pd.Series(ages) </a:t>
            </a:r>
            <a:r>
              <a:rPr lang="en-US" altLang="en-US" sz="1600">
                <a:solidFill>
                  <a:schemeClr val="tx1"/>
                </a:solidFill>
                <a:sym typeface="+mn-ea"/>
              </a:rPr>
              <a:t># Convert it into a Pandas Series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</a:rPr>
              <a:t>print(age_series)</a:t>
            </a:r>
            <a:endParaRPr lang="en-US" altLang="en-US" sz="160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Pandas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</a:rPr>
              <a:t>A 2D Pandas structure is called a DataFrame.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It is a two-dimensional, size-mutable, and potentially heterogeneous tabular data structure with labeled axes (rows and columns), like an Excel spreadsheet or a SQL database table operating directly inside your Python script.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Key Characteristics of a 2D DataFrame: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Two Axes: It has vertical row labels (index) and horizontal column labels (headers).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Heterogeneous columns: Different columns can store entirely different data types (e.g., text, integers, booleans, and dates side-by-side).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Alignment: Operations automatically align data based on both row and column labels</a:t>
            </a:r>
            <a:r>
              <a:rPr lang="en-US" altLang="en-US">
                <a:solidFill>
                  <a:schemeClr val="tx1"/>
                </a:solidFill>
              </a:rPr>
              <a:t>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Content Placeholder 9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data = {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"Name": ["Rahul", "Amit"],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"Age": [22, 25]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}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df = pd.DataFrame(data)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print(df)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#  Name  Age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0  Rahul   22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1   Amit   25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405120" y="1838960"/>
            <a:ext cx="5379085" cy="4171950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Python and Pandas missing values: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None: Python's built-in keyword for a blank or empty value.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NaN / nan: Stands for Not a Number. Used for missing numbers.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NA: Stands for Not Available. Pandas uses pd.NA for missing text or integers.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NaT: Stands for Not a Time. Used specifically for missing dates and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Pandas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Group Summaries (groupby):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98437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</a:rPr>
              <a:t>The Pandas .groupby() function allows you to split your data into distinct categories and instantly calculate summary statistics, like averages, across those groups. 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It follows a three-step process: Split, Apply, and Combine.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Split: Breaks your data into groups based on a specific column.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Apply: Computes a statistical function (like mean or sum) on each group.</a:t>
            </a:r>
            <a:endParaRPr lang="en-US" altLang="en-US">
              <a:solidFill>
                <a:schemeClr val="tx1"/>
              </a:solidFill>
            </a:endParaRPr>
          </a:p>
          <a:p>
            <a:r>
              <a:rPr lang="en-US" altLang="en-US">
                <a:solidFill>
                  <a:schemeClr val="tx1"/>
                </a:solidFill>
              </a:rPr>
              <a:t>Combine: Merges the results back into a clean summary table.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Group Summaries (groupby):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import pandas as pd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data = {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'Department': ['Electronics', 'Clothing', 'Electronics', 'Clothing', 'Home'],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'Sales':,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'Profit': [300, 70, 200, 90, 150]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}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df = pd.DataFrame(data)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avg_by_dept = df.groupby('Department').mean()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print(avg_by_dept)</a:t>
            </a:r>
            <a:endParaRPr lang="en-US" altLang="en-US">
              <a:solidFill>
                <a:schemeClr val="tx1"/>
              </a:solidFill>
            </a:endParaRPr>
          </a:p>
          <a:p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.plot() in Pandas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700">
                <a:solidFill>
                  <a:schemeClr val="tx1"/>
                </a:solidFill>
              </a:rPr>
              <a:t>.plot() is a high-level visualization interface provided by Pandas to quickly generate graphs from structured data.</a:t>
            </a:r>
            <a:endParaRPr lang="en-US" altLang="en-US" sz="1700">
              <a:solidFill>
                <a:schemeClr val="tx1"/>
              </a:solidFill>
            </a:endParaRPr>
          </a:p>
          <a:p>
            <a:r>
              <a:rPr lang="en-US" altLang="en-US" sz="1700">
                <a:solidFill>
                  <a:schemeClr val="tx1"/>
                </a:solidFill>
              </a:rPr>
              <a:t>.plot() is a wrapper around Matplotlib that converts DataFrame/Series data into visual representations.</a:t>
            </a:r>
            <a:endParaRPr lang="en-US" altLang="en-US" sz="1700">
              <a:solidFill>
                <a:schemeClr val="tx1"/>
              </a:solidFill>
            </a:endParaRPr>
          </a:p>
          <a:p>
            <a:r>
              <a:rPr lang="en-US" altLang="en-US" sz="1700">
                <a:solidFill>
                  <a:schemeClr val="tx1"/>
                </a:solidFill>
              </a:rPr>
              <a:t>    Pandas extracts:</a:t>
            </a:r>
            <a:endParaRPr lang="en-US" altLang="en-US" sz="17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700">
                <a:solidFill>
                  <a:schemeClr val="tx1"/>
                </a:solidFill>
              </a:rPr>
              <a:t>    * Index → becomes X-axis</a:t>
            </a:r>
            <a:endParaRPr lang="en-US" altLang="en-US" sz="17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700">
                <a:solidFill>
                  <a:schemeClr val="tx1"/>
                </a:solidFill>
              </a:rPr>
              <a:t>    * Columns → become Y-axis values</a:t>
            </a:r>
            <a:endParaRPr lang="en-US" altLang="en-US" sz="1700">
              <a:solidFill>
                <a:schemeClr val="tx1"/>
              </a:solidFill>
            </a:endParaRPr>
          </a:p>
          <a:p>
            <a:r>
              <a:rPr lang="en-US" altLang="en-US" sz="1700">
                <a:solidFill>
                  <a:schemeClr val="tx1"/>
                </a:solidFill>
              </a:rPr>
              <a:t>Automatically:</a:t>
            </a:r>
            <a:endParaRPr lang="en-US" altLang="en-US" sz="17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700">
                <a:solidFill>
                  <a:schemeClr val="tx1"/>
                </a:solidFill>
              </a:rPr>
              <a:t>  * Creates figure</a:t>
            </a:r>
            <a:endParaRPr lang="en-US" altLang="en-US" sz="17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700">
                <a:solidFill>
                  <a:schemeClr val="tx1"/>
                </a:solidFill>
              </a:rPr>
              <a:t>  * Sets axes</a:t>
            </a:r>
            <a:endParaRPr lang="en-US" altLang="en-US" sz="17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700">
                <a:solidFill>
                  <a:schemeClr val="tx1"/>
                </a:solidFill>
              </a:rPr>
              <a:t>   * Adds labels</a:t>
            </a:r>
            <a:endParaRPr lang="en-US" altLang="en-US" sz="17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700">
                <a:solidFill>
                  <a:schemeClr val="tx1"/>
                </a:solidFill>
              </a:rPr>
              <a:t>   * Draws graph</a:t>
            </a:r>
            <a:endParaRPr lang="en-US" altLang="en-US" sz="170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Content Placeholder 9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29945" y="1490345"/>
            <a:ext cx="10747375" cy="4932680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fontScale="90000" lnSpcReduction="2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df = pd.DataFrame({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"Sales": [200, 300, 400],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  "Profit": [20, 40, 60]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}, index=["Mon", "Tue", "Wed"])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  X-axis → Mon, Tue, Wed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* Y-axis → Sales &amp; Profit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* Legend → “Sales”, “Profit”</a:t>
            </a:r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3"/>
            </p:custDataLst>
          </p:nvPr>
        </p:nvGraphicFramePr>
        <p:xfrm>
          <a:off x="1061720" y="1490345"/>
          <a:ext cx="3488690" cy="1483360"/>
        </p:xfrm>
        <a:graphic>
          <a:graphicData uri="http://schemas.openxmlformats.org/drawingml/2006/table">
            <a:tbl>
              <a:tblPr/>
              <a:tblGrid>
                <a:gridCol w="1536700"/>
                <a:gridCol w="1951990"/>
              </a:tblGrid>
              <a:tr h="0">
                <a:tc>
                  <a:txBody>
                    <a:bodyPr/>
                    <a:p>
                      <a:pPr algn="ctr"/>
                      <a:r>
                        <a:rPr sz="1400" b="1"/>
                        <a:t>Data Part</a:t>
                      </a:r>
                      <a:endParaRPr sz="14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/>
                        <a:t>Role in Plot</a:t>
                      </a:r>
                      <a:endParaRPr sz="14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/>
                        <a:t>Index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X-axis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/>
                        <a:t>Column values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Y-axis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/>
                        <a:t>Column names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Legend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itle 7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.plot() in Pandas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Content Placeholder 9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8330" y="1391285"/>
            <a:ext cx="10968990" cy="5186045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600">
                <a:solidFill>
                  <a:schemeClr val="tx1"/>
                </a:solidFill>
              </a:rPr>
              <a:t>Types of Plots Supported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</a:rPr>
              <a:t>s.plot()---    Only one line/bar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 sz="1600">
                <a:solidFill>
                  <a:schemeClr val="tx1"/>
                </a:solidFill>
              </a:rPr>
              <a:t>df.plot()--    Multiple columns → multiple lines/bars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 sz="160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3"/>
            </p:custDataLst>
          </p:nvPr>
        </p:nvGraphicFramePr>
        <p:xfrm>
          <a:off x="853440" y="1899285"/>
          <a:ext cx="3211830" cy="3134360"/>
        </p:xfrm>
        <a:graphic>
          <a:graphicData uri="http://schemas.openxmlformats.org/drawingml/2006/table">
            <a:tbl>
              <a:tblPr/>
              <a:tblGrid>
                <a:gridCol w="1215390"/>
                <a:gridCol w="1996440"/>
              </a:tblGrid>
              <a:tr h="0">
                <a:tc>
                  <a:txBody>
                    <a:bodyPr/>
                    <a:p>
                      <a:pPr algn="ctr"/>
                      <a:r>
                        <a:rPr sz="1400" b="1"/>
                        <a:t>Kind</a:t>
                      </a:r>
                      <a:endParaRPr sz="14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/>
                        <a:t>Meaning</a:t>
                      </a:r>
                      <a:endParaRPr sz="14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/>
                        <a:t>line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Trend over time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/>
                        <a:t>bar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Category comparison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/>
                        <a:t>barh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Horizontal bar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/>
                        <a:t>hist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Distribution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/>
                        <a:t>box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Statistical summary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/>
                        <a:t>scatter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Relationship between 2 variables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/>
                        <a:t>pie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/>
                        <a:t>Proportions</a:t>
                      </a:r>
                      <a:endParaRPr sz="14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itle 7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.plot() in Pandas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Content Placeholder 9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en-US">
              <a:ea typeface="+mn-ea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438910" y="1490345"/>
            <a:ext cx="10138410" cy="47593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en-US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solidFill>
                  <a:schemeClr val="tx1"/>
                </a:solidFill>
              </a:rPr>
              <a:t>df.plot(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solidFill>
                  <a:schemeClr val="tx1"/>
                </a:solidFill>
              </a:rPr>
              <a:t>    kind="line",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solidFill>
                  <a:schemeClr val="tx1"/>
                </a:solidFill>
              </a:rPr>
              <a:t>    title="My Chart",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solidFill>
                  <a:schemeClr val="tx1"/>
                </a:solidFill>
              </a:rPr>
              <a:t>    xlabel="Days",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solidFill>
                  <a:schemeClr val="tx1"/>
                </a:solidFill>
              </a:rPr>
              <a:t>    ylabel="Values",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solidFill>
                  <a:schemeClr val="tx1"/>
                </a:solidFill>
              </a:rPr>
              <a:t>    figsize=(6,4),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solidFill>
                  <a:schemeClr val="tx1"/>
                </a:solidFill>
              </a:rPr>
              <a:t>    grid=True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en-US">
                <a:solidFill>
                  <a:schemeClr val="tx1"/>
                </a:solidFill>
              </a:rPr>
              <a:t>)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3"/>
            </p:custDataLst>
          </p:nvPr>
        </p:nvGraphicFramePr>
        <p:xfrm>
          <a:off x="5153025" y="1588135"/>
          <a:ext cx="3838575" cy="3342640"/>
        </p:xfrm>
        <a:graphic>
          <a:graphicData uri="http://schemas.openxmlformats.org/drawingml/2006/table">
            <a:tbl>
              <a:tblPr/>
              <a:tblGrid>
                <a:gridCol w="1640840"/>
                <a:gridCol w="2197735"/>
              </a:tblGrid>
              <a:tr h="0">
                <a:tc>
                  <a:txBody>
                    <a:bodyPr/>
                    <a:p>
                      <a:pPr algn="ctr"/>
                      <a:r>
                        <a:rPr sz="1800" b="1"/>
                        <a:t>Parameter</a:t>
                      </a:r>
                      <a:endParaRPr sz="18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Purpose</a:t>
                      </a:r>
                      <a:endParaRPr sz="1800" b="1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800"/>
                        <a:t>kind</a:t>
                      </a:r>
                      <a:endParaRPr sz="18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Type of chart</a:t>
                      </a:r>
                      <a:endParaRPr sz="18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800"/>
                        <a:t>title</a:t>
                      </a:r>
                      <a:endParaRPr sz="18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Chart title</a:t>
                      </a:r>
                      <a:endParaRPr sz="18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800"/>
                        <a:t>xlabel, </a:t>
                      </a:r>
                      <a:r>
                        <a:rPr sz="1800"/>
                        <a:t>ylabel</a:t>
                      </a:r>
                      <a:endParaRPr sz="18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Axis labels</a:t>
                      </a:r>
                      <a:endParaRPr sz="18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800"/>
                        <a:t>figsize</a:t>
                      </a:r>
                      <a:endParaRPr sz="18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Size of graph</a:t>
                      </a:r>
                      <a:endParaRPr sz="18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800"/>
                        <a:t>grid</a:t>
                      </a:r>
                      <a:endParaRPr sz="18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Show grid</a:t>
                      </a:r>
                      <a:endParaRPr sz="18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800"/>
                        <a:t>legend</a:t>
                      </a:r>
                      <a:endParaRPr sz="18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/>
                        <a:t>Show/hide legend</a:t>
                      </a:r>
                      <a:endParaRPr sz="1800"/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itle 7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8400" y="497275"/>
            <a:ext cx="10969200" cy="7056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.plot() in Pandas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12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1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130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82_1*f*4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Name"/>
</p:tagLst>
</file>

<file path=ppt/tags/tag131.xml><?xml version="1.0" encoding="utf-8"?>
<p:tagLst xmlns:p="http://schemas.openxmlformats.org/presentationml/2006/main">
  <p:tag name="KSO_WM_SPECIAL_SOURCE" val="bdnull"/>
  <p:tag name="KSO_WM_SLIDE_ID" val="custom2023348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TEMPLATE_THUMBS_INDEX" val="1、9"/>
  <p:tag name="KSO_WM_SLIDE_THEME_ID" val="3321262"/>
  <p:tag name="KSO_WM_SLIDE_THEME_NAME" val="White Minimalist"/>
</p:tagLst>
</file>

<file path=ppt/tags/tag1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7"/>
  <p:tag name="KSO_WM_UNIT_TYPE" val="f"/>
  <p:tag name="KSO_WM_UNIT_SUBTYPE" val="a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36.xml><?xml version="1.0" encoding="utf-8"?>
<p:tagLst xmlns:p="http://schemas.openxmlformats.org/presentationml/2006/main">
  <p:tag name="KSO_WM_UNIT_TEXT" val="Limitations of NumPy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8"/>
  <p:tag name="KSO_WM_UNIT_TYPE" val="f"/>
  <p:tag name="KSO_WM_UNIT_SUBTYPE" val="a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40.xml><?xml version="1.0" encoding="utf-8"?>
<p:tagLst xmlns:p="http://schemas.openxmlformats.org/presentationml/2006/main">
  <p:tag name="KSO_WM_UNIT_TEXT" val="Pandas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4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7"/>
  <p:tag name="KSO_WM_UNIT_TYPE" val="f"/>
  <p:tag name="KSO_WM_UNIT_SUBTYPE" val="a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44.xml><?xml version="1.0" encoding="utf-8"?>
<p:tagLst xmlns:p="http://schemas.openxmlformats.org/presentationml/2006/main">
  <p:tag name="KSO_WM_UNIT_TEXT" val="Pandas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4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1"/>
  <p:tag name="KSO_WM_UNIT_TYPE" val="f"/>
  <p:tag name="KSO_WM_UNIT_SUBTYPE" val="a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48.xml><?xml version="1.0" encoding="utf-8"?>
<p:tagLst xmlns:p="http://schemas.openxmlformats.org/presentationml/2006/main">
  <p:tag name="KSO_WM_UNIT_TEXT" val="Pandas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4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7"/>
  <p:tag name="KSO_WM_UNIT_TYPE" val="f"/>
  <p:tag name="KSO_WM_UNIT_SUBTYPE" val="a"/>
</p:tagLst>
</file>

<file path=ppt/tags/tag15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5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1"/>
  <p:tag name="KSO_WM_UNIT_TYPE" val="f"/>
  <p:tag name="KSO_WM_UNIT_SUBTYPE" val="a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6"/>
  <p:tag name="KSO_WM_UNIT_TYPE" val="f"/>
  <p:tag name="KSO_WM_UNIT_SUBTYPE" val="a"/>
</p:tagLst>
</file>

<file path=ppt/tags/tag155.xml><?xml version="1.0" encoding="utf-8"?>
<p:tagLst xmlns:p="http://schemas.openxmlformats.org/presentationml/2006/main">
  <p:tag name="KSO_WM_UNIT_TEXT" val="Pandas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5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57.xml><?xml version="1.0" encoding="utf-8"?>
<p:tagLst xmlns:p="http://schemas.openxmlformats.org/presentationml/2006/main">
  <p:tag name="KSO_WM_UNIT_TEXT" val="Pandas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5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6"/>
  <p:tag name="KSO_WM_UNIT_TYPE" val="f"/>
  <p:tag name="KSO_WM_UNIT_SUBTYPE" val="a"/>
</p:tagLst>
</file>

<file path=ppt/tags/tag1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61.xml><?xml version="1.0" encoding="utf-8"?>
<p:tagLst xmlns:p="http://schemas.openxmlformats.org/presentationml/2006/main">
  <p:tag name="KSO_WM_UNIT_TEXT" val="Group Summaries (groupby):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6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9"/>
  <p:tag name="KSO_WM_UNIT_TYPE" val="f"/>
  <p:tag name="KSO_WM_UNIT_SUBTYPE" val="a"/>
</p:tagLst>
</file>

<file path=ppt/tags/tag1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65.xml><?xml version="1.0" encoding="utf-8"?>
<p:tagLst xmlns:p="http://schemas.openxmlformats.org/presentationml/2006/main">
  <p:tag name="KSO_WM_UNIT_TEXT" val="Group Summaries (groupby):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6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1"/>
  <p:tag name="KSO_WM_UNIT_TYPE" val="f"/>
  <p:tag name="KSO_WM_UNIT_SUBTYPE" val="a"/>
</p:tagLst>
</file>

<file path=ppt/tags/tag1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6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9"/>
  <p:tag name="KSO_WM_UNIT_TYPE" val="f"/>
  <p:tag name="KSO_WM_UNIT_SUBTYPE" val="a"/>
</p:tagLst>
</file>

<file path=ppt/tags/tag171.xml><?xml version="1.0" encoding="utf-8"?>
<p:tagLst xmlns:p="http://schemas.openxmlformats.org/presentationml/2006/main">
  <p:tag name="KSO_WM_UNIT_INDEX" val="2"/>
  <p:tag name="KSO_WM_UNIT_TYPE" val="β"/>
  <p:tag name="KSO_WM_BEAUTIFY_FLAG" val="#wm#"/>
</p:tagLst>
</file>

<file path=ppt/tags/tag172.xml><?xml version="1.0" encoding="utf-8"?>
<p:tagLst xmlns:p="http://schemas.openxmlformats.org/presentationml/2006/main">
  <p:tag name="KSO_WM_UNIT_TEXT" val=".plot() in Pandas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7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4"/>
  <p:tag name="KSO_WM_UNIT_TYPE" val="f"/>
  <p:tag name="KSO_WM_UNIT_SUBTYPE" val="a"/>
</p:tagLst>
</file>

<file path=ppt/tags/tag176.xml><?xml version="1.0" encoding="utf-8"?>
<p:tagLst xmlns:p="http://schemas.openxmlformats.org/presentationml/2006/main">
  <p:tag name="KSO_WM_UNIT_INDEX" val="5"/>
  <p:tag name="KSO_WM_UNIT_TYPE" val="β"/>
  <p:tag name="KSO_WM_BEAUTIFY_FLAG" val="#wm#"/>
</p:tagLst>
</file>

<file path=ppt/tags/tag177.xml><?xml version="1.0" encoding="utf-8"?>
<p:tagLst xmlns:p="http://schemas.openxmlformats.org/presentationml/2006/main">
  <p:tag name="KSO_WM_UNIT_TEXT" val=".plot() in Pandas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7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0"/>
  <p:tag name="KSO_WM_UNIT_TYPE" val="f"/>
  <p:tag name="KSO_WM_UNIT_SUBTYPE" val="a"/>
</p:tagLst>
</file>

<file path=ppt/tags/tag181.xml><?xml version="1.0" encoding="utf-8"?>
<p:tagLst xmlns:p="http://schemas.openxmlformats.org/presentationml/2006/main">
  <p:tag name="KSO_WM_UNIT_INDEX" val="3"/>
  <p:tag name="KSO_WM_UNIT_TYPE" val="β"/>
  <p:tag name="KSO_WM_BEAUTIFY_FLAG" val="#wm#"/>
</p:tagLst>
</file>

<file path=ppt/tags/tag182.xml><?xml version="1.0" encoding="utf-8"?>
<p:tagLst xmlns:p="http://schemas.openxmlformats.org/presentationml/2006/main">
  <p:tag name="KSO_WM_UNIT_TEXT" val=".plot() in Pandas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5514</Words>
  <Application>WPS Sheets</Application>
  <PresentationFormat>Widescreen</PresentationFormat>
  <Paragraphs>227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2" baseType="lpstr">
      <vt:lpstr>Arial</vt:lpstr>
      <vt:lpstr>SimSun</vt:lpstr>
      <vt:lpstr>Wingdings</vt:lpstr>
      <vt:lpstr>Wingdings</vt:lpstr>
      <vt:lpstr>.AppleSystemUIFont Regular</vt:lpstr>
      <vt:lpstr>苹方-简</vt:lpstr>
      <vt:lpstr>Microsoft YaHei</vt:lpstr>
      <vt:lpstr>汉仪旗黑</vt:lpstr>
      <vt:lpstr>Arial Unicode MS</vt:lpstr>
      <vt:lpstr>Calibri</vt:lpstr>
      <vt:lpstr>Helvetica Neue</vt:lpstr>
      <vt:lpstr>宋体-简</vt:lpstr>
      <vt:lpstr>Arial Bold</vt:lpstr>
      <vt:lpstr>Apple Color Emoji</vt:lpstr>
      <vt:lpstr>SimSun</vt:lpstr>
      <vt:lpstr>Lato</vt:lpstr>
      <vt:lpstr>Manrope ExtraBold</vt:lpstr>
      <vt:lpstr>WPS</vt:lpstr>
      <vt:lpstr>Office Theme</vt:lpstr>
      <vt:lpstr>Your title here</vt:lpstr>
      <vt:lpstr>Limitations of NumPy</vt:lpstr>
      <vt:lpstr>Pandas</vt:lpstr>
      <vt:lpstr>Pandas</vt:lpstr>
      <vt:lpstr>Pandas</vt:lpstr>
      <vt:lpstr>Pandas</vt:lpstr>
      <vt:lpstr>Pandas</vt:lpstr>
      <vt:lpstr>Group Summaries (groupby):</vt:lpstr>
      <vt:lpstr>Group Summaries (groupby):</vt:lpstr>
      <vt:lpstr>.plot() in Pandas</vt:lpstr>
      <vt:lpstr>.plot() in Pandas</vt:lpstr>
      <vt:lpstr>.plot() in Pandas</vt:lpstr>
      <vt:lpstr>.plot() in Pandas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dratulkumarramotra</dc:creator>
  <cp:lastModifiedBy>dratulkumarramotra</cp:lastModifiedBy>
  <cp:revision>16</cp:revision>
  <dcterms:created xsi:type="dcterms:W3CDTF">2026-06-19T01:54:28Z</dcterms:created>
  <dcterms:modified xsi:type="dcterms:W3CDTF">2026-06-19T01:54:28Z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1033-12.1.25897.25897</vt:lpwstr>
  </property>
  <property fmtid="{D5CDD505-2E9C-101B-9397-08002B2CF9AE}" pid="3" name="ICV">
    <vt:lpwstr>1F7776C8A9C5177349A1326A9E2D7AE4_41</vt:lpwstr>
  </property>
</Properties>
</file>